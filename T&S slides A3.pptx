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IBM Plex Sans"/>
      <p:regular r:id="rId23"/>
      <p:bold r:id="rId24"/>
      <p:italic r:id="rId25"/>
      <p:boldItalic r:id="rId26"/>
    </p:embeddedFont>
    <p:embeddedFont>
      <p:font typeface="Sora SemiBold"/>
      <p:regular r:id="rId27"/>
      <p:bold r:id="rId28"/>
    </p:embeddedFont>
    <p:embeddedFont>
      <p:font typeface="Source Code Pro"/>
      <p:regular r:id="rId29"/>
      <p:bold r:id="rId30"/>
      <p:italic r:id="rId31"/>
      <p:boldItalic r:id="rId32"/>
    </p:embeddedFont>
    <p:embeddedFont>
      <p:font typeface="IBM Plex Sans Medium"/>
      <p:regular r:id="rId33"/>
      <p:bold r:id="rId34"/>
      <p:italic r:id="rId35"/>
      <p:boldItalic r:id="rId36"/>
    </p:embeddedFont>
    <p:embeddedFont>
      <p:font typeface="Sora Light"/>
      <p:regular r:id="rId37"/>
      <p:bold r:id="rId38"/>
    </p:embeddedFont>
    <p:embeddedFont>
      <p:font typeface="Sora ExtraLight"/>
      <p:regular r:id="rId39"/>
      <p:bold r:id="rId40"/>
    </p:embeddedFont>
    <p:embeddedFont>
      <p:font typeface="Sora"/>
      <p:regular r:id="rId41"/>
      <p:bold r:id="rId42"/>
    </p:embeddedFont>
    <p:embeddedFont>
      <p:font typeface="Source Code Pro Medium"/>
      <p:regular r:id="rId43"/>
      <p:bold r:id="rId44"/>
      <p:italic r:id="rId45"/>
      <p:boldItalic r:id="rId46"/>
    </p:embeddedFont>
    <p:embeddedFont>
      <p:font typeface="Sora Medium"/>
      <p:regular r:id="rId47"/>
      <p:bold r:id="rId48"/>
    </p:embeddedFont>
    <p:embeddedFont>
      <p:font typeface="IBM Plex Sans SemiBold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raExtraLight-bold.fntdata"/><Relationship Id="rId42" Type="http://schemas.openxmlformats.org/officeDocument/2006/relationships/font" Target="fonts/Sora-bold.fntdata"/><Relationship Id="rId41" Type="http://schemas.openxmlformats.org/officeDocument/2006/relationships/font" Target="fonts/Sora-regular.fntdata"/><Relationship Id="rId44" Type="http://schemas.openxmlformats.org/officeDocument/2006/relationships/font" Target="fonts/SourceCodeProMedium-bold.fntdata"/><Relationship Id="rId43" Type="http://schemas.openxmlformats.org/officeDocument/2006/relationships/font" Target="fonts/SourceCodeProMedium-regular.fntdata"/><Relationship Id="rId46" Type="http://schemas.openxmlformats.org/officeDocument/2006/relationships/font" Target="fonts/SourceCodeProMedium-boldItalic.fntdata"/><Relationship Id="rId45" Type="http://schemas.openxmlformats.org/officeDocument/2006/relationships/font" Target="fonts/SourceCodePro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SoraMedium-bold.fntdata"/><Relationship Id="rId47" Type="http://schemas.openxmlformats.org/officeDocument/2006/relationships/font" Target="fonts/SoraMedium-regular.fntdata"/><Relationship Id="rId49" Type="http://schemas.openxmlformats.org/officeDocument/2006/relationships/font" Target="fonts/IBMPlexSansSemiBold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ourceCodePro-italic.fntdata"/><Relationship Id="rId30" Type="http://schemas.openxmlformats.org/officeDocument/2006/relationships/font" Target="fonts/SourceCodePro-bold.fntdata"/><Relationship Id="rId33" Type="http://schemas.openxmlformats.org/officeDocument/2006/relationships/font" Target="fonts/IBMPlexSansMedium-regular.fntdata"/><Relationship Id="rId32" Type="http://schemas.openxmlformats.org/officeDocument/2006/relationships/font" Target="fonts/SourceCodePro-boldItalic.fntdata"/><Relationship Id="rId35" Type="http://schemas.openxmlformats.org/officeDocument/2006/relationships/font" Target="fonts/IBMPlexSansMedium-italic.fntdata"/><Relationship Id="rId34" Type="http://schemas.openxmlformats.org/officeDocument/2006/relationships/font" Target="fonts/IBMPlexSansMedium-bold.fntdata"/><Relationship Id="rId37" Type="http://schemas.openxmlformats.org/officeDocument/2006/relationships/font" Target="fonts/SoraLight-regular.fntdata"/><Relationship Id="rId36" Type="http://schemas.openxmlformats.org/officeDocument/2006/relationships/font" Target="fonts/IBMPlexSansMedium-boldItalic.fntdata"/><Relationship Id="rId39" Type="http://schemas.openxmlformats.org/officeDocument/2006/relationships/font" Target="fonts/SoraExtraLight-regular.fntdata"/><Relationship Id="rId38" Type="http://schemas.openxmlformats.org/officeDocument/2006/relationships/font" Target="fonts/SoraLight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IBMPlexSans-bold.fntdata"/><Relationship Id="rId23" Type="http://schemas.openxmlformats.org/officeDocument/2006/relationships/font" Target="fonts/IBMPlexSans-regular.fntdata"/><Relationship Id="rId26" Type="http://schemas.openxmlformats.org/officeDocument/2006/relationships/font" Target="fonts/IBMPlexSans-boldItalic.fntdata"/><Relationship Id="rId25" Type="http://schemas.openxmlformats.org/officeDocument/2006/relationships/font" Target="fonts/IBMPlexSans-italic.fntdata"/><Relationship Id="rId28" Type="http://schemas.openxmlformats.org/officeDocument/2006/relationships/font" Target="fonts/SoraSemiBold-bold.fntdata"/><Relationship Id="rId27" Type="http://schemas.openxmlformats.org/officeDocument/2006/relationships/font" Target="fonts/SoraSemiBold-regular.fntdata"/><Relationship Id="rId29" Type="http://schemas.openxmlformats.org/officeDocument/2006/relationships/font" Target="fonts/SourceCodePro-regular.fntdata"/><Relationship Id="rId51" Type="http://schemas.openxmlformats.org/officeDocument/2006/relationships/font" Target="fonts/IBMPlexSansSemiBold-italic.fntdata"/><Relationship Id="rId50" Type="http://schemas.openxmlformats.org/officeDocument/2006/relationships/font" Target="fonts/IBMPlexSansSemiBold-bold.fntdata"/><Relationship Id="rId52" Type="http://schemas.openxmlformats.org/officeDocument/2006/relationships/font" Target="fonts/IBMPlexSans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90fce78cf0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90fce78cf0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90fce78cf0_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90fce78cf0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90fce78cf0_4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390fce78cf0_4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a921e31c5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3a921e31c5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a921e31c5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3a921e31c5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3a921e31c5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3a921e31c5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390fce78cf0_4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390fce78cf0_4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90fce78cf0_4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390fce78cf0_4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3a919c2e5d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3a919c2e5d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390fce78cf0_4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390fce78cf0_4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a919c2e5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3a919c2e5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3a921e31c5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3a921e31c5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a84c832e10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3a84c832e10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90fce78cf0_4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390fce78cf0_4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a84c832e10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3a84c832e10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90fce78cf0_4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390fce78cf0_4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CS 5342: Trust and Safety: Platforms, Policies, Products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4" name="Google Shape;934;p63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Scam Labeler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935" name="Google Shape;935;p63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Kk2239, yj586, hg493, hx329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64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Contents</a:t>
            </a:r>
            <a:endParaRPr b="1"/>
          </a:p>
        </p:txBody>
      </p:sp>
      <p:sp>
        <p:nvSpPr>
          <p:cNvPr id="941" name="Google Shape;941;p64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/>
              <a:t>5</a:t>
            </a:r>
            <a:r>
              <a:rPr b="0" lang="en" sz="1600"/>
              <a:t>.</a:t>
            </a:r>
            <a:endParaRPr b="0" sz="1600"/>
          </a:p>
        </p:txBody>
      </p:sp>
      <p:sp>
        <p:nvSpPr>
          <p:cNvPr id="942" name="Google Shape;942;p64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Demo</a:t>
            </a:r>
            <a:endParaRPr sz="1200"/>
          </a:p>
        </p:txBody>
      </p:sp>
      <p:sp>
        <p:nvSpPr>
          <p:cNvPr id="943" name="Google Shape;943;p64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/>
              <a:t>4</a:t>
            </a:r>
            <a:r>
              <a:rPr b="0" lang="en" sz="1600"/>
              <a:t>.</a:t>
            </a:r>
            <a:endParaRPr b="0" sz="1600"/>
          </a:p>
        </p:txBody>
      </p:sp>
      <p:sp>
        <p:nvSpPr>
          <p:cNvPr id="944" name="Google Shape;944;p64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Test </a:t>
            </a:r>
            <a:r>
              <a:rPr lang="en" sz="1200"/>
              <a:t>Design</a:t>
            </a:r>
            <a:endParaRPr sz="1200"/>
          </a:p>
        </p:txBody>
      </p:sp>
      <p:sp>
        <p:nvSpPr>
          <p:cNvPr id="945" name="Google Shape;945;p64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/>
              <a:t>3.</a:t>
            </a:r>
            <a:endParaRPr b="0" sz="1600"/>
          </a:p>
        </p:txBody>
      </p:sp>
      <p:sp>
        <p:nvSpPr>
          <p:cNvPr id="946" name="Google Shape;946;p64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Summary of Approach</a:t>
            </a:r>
            <a:endParaRPr sz="1200"/>
          </a:p>
        </p:txBody>
      </p:sp>
      <p:sp>
        <p:nvSpPr>
          <p:cNvPr id="947" name="Google Shape;947;p64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/>
              <a:t>2</a:t>
            </a:r>
            <a:r>
              <a:rPr b="0" lang="en" sz="1600"/>
              <a:t>.</a:t>
            </a:r>
            <a:endParaRPr b="0" sz="1600"/>
          </a:p>
        </p:txBody>
      </p:sp>
      <p:sp>
        <p:nvSpPr>
          <p:cNvPr id="948" name="Google Shape;948;p64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Motivation</a:t>
            </a:r>
            <a:endParaRPr sz="1200"/>
          </a:p>
        </p:txBody>
      </p:sp>
      <p:sp>
        <p:nvSpPr>
          <p:cNvPr id="949" name="Google Shape;949;p64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/>
              <a:t>1</a:t>
            </a:r>
            <a:r>
              <a:rPr b="0" lang="en" sz="1600"/>
              <a:t>.</a:t>
            </a:r>
            <a:endParaRPr b="0" sz="1600"/>
          </a:p>
        </p:txBody>
      </p:sp>
      <p:sp>
        <p:nvSpPr>
          <p:cNvPr id="950" name="Google Shape;950;p64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Test Results</a:t>
            </a:r>
            <a:endParaRPr sz="1200"/>
          </a:p>
        </p:txBody>
      </p:sp>
      <p:sp>
        <p:nvSpPr>
          <p:cNvPr id="951" name="Google Shape;951;p64"/>
          <p:cNvSpPr txBox="1"/>
          <p:nvPr>
            <p:ph idx="5" type="subTitle"/>
          </p:nvPr>
        </p:nvSpPr>
        <p:spPr>
          <a:xfrm>
            <a:off x="4482800" y="3788587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/>
              <a:t>6</a:t>
            </a:r>
            <a:r>
              <a:rPr b="0" lang="en" sz="1600"/>
              <a:t>.</a:t>
            </a:r>
            <a:endParaRPr b="0" sz="1600"/>
          </a:p>
        </p:txBody>
      </p:sp>
      <p:sp>
        <p:nvSpPr>
          <p:cNvPr id="952" name="Google Shape;952;p64"/>
          <p:cNvSpPr txBox="1"/>
          <p:nvPr>
            <p:ph idx="4" type="subTitle"/>
          </p:nvPr>
        </p:nvSpPr>
        <p:spPr>
          <a:xfrm>
            <a:off x="4482800" y="40214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Next Steps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6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CS 5342: Trust and Safety: Platforms, Policies, Products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65"/>
          <p:cNvSpPr txBox="1"/>
          <p:nvPr>
            <p:ph type="title"/>
          </p:nvPr>
        </p:nvSpPr>
        <p:spPr>
          <a:xfrm>
            <a:off x="96025" y="795425"/>
            <a:ext cx="6507000" cy="12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Motivation</a:t>
            </a:r>
            <a:endParaRPr b="1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Harm &amp; The Decentralized Gap</a:t>
            </a:r>
            <a:endParaRPr b="1"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959" name="Google Shape;959;p65"/>
          <p:cNvSpPr txBox="1"/>
          <p:nvPr>
            <p:ph idx="1" type="subTitle"/>
          </p:nvPr>
        </p:nvSpPr>
        <p:spPr>
          <a:xfrm>
            <a:off x="115025" y="1931775"/>
            <a:ext cx="52518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Tangible Harm</a:t>
            </a:r>
            <a:endParaRPr b="1"/>
          </a:p>
          <a:p>
            <a:pPr indent="-2921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Arial"/>
              <a:buChar char="●"/>
            </a:pPr>
            <a:r>
              <a:rPr b="1" lang="en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Financial Loss:</a:t>
            </a:r>
            <a:r>
              <a:rPr lang="en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Phishing attacks use "urgency cues" to steal funds.</a:t>
            </a:r>
            <a:endParaRPr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Arial"/>
              <a:buChar char="●"/>
            </a:pPr>
            <a:r>
              <a:rPr b="1" lang="en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Impersonation:</a:t>
            </a:r>
            <a:r>
              <a:rPr lang="en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Users mistake custom domains for verification.</a:t>
            </a:r>
            <a:endParaRPr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Arial"/>
              <a:buChar char="●"/>
            </a:pPr>
            <a:r>
              <a:rPr b="1" lang="en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Trust Erosion:</a:t>
            </a:r>
            <a:r>
              <a:rPr lang="en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Scams degrade the community experience, hindering adoption.</a:t>
            </a:r>
            <a:endParaRPr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65"/>
          <p:cNvSpPr txBox="1"/>
          <p:nvPr>
            <p:ph idx="1" type="subTitle"/>
          </p:nvPr>
        </p:nvSpPr>
        <p:spPr>
          <a:xfrm>
            <a:off x="147900" y="3074050"/>
            <a:ext cx="43638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Vulnerability Gap</a:t>
            </a:r>
            <a:endParaRPr b="1"/>
          </a:p>
          <a:p>
            <a:pPr indent="-2921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Arial"/>
              <a:buChar char="●"/>
            </a:pPr>
            <a:r>
              <a:rPr lang="en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Decentralized platforms face a "Cold Start" in safety tools.</a:t>
            </a:r>
            <a:endParaRPr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Arial"/>
              <a:buChar char="●"/>
            </a:pPr>
            <a:r>
              <a:rPr lang="en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Reactive blacklists fail against zero-day phishing domains.</a:t>
            </a:r>
            <a:endParaRPr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Arial"/>
              <a:buChar char="●"/>
            </a:pPr>
            <a:r>
              <a:rPr b="1" lang="en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Mitigate harm via proactive behavioral analysis.</a:t>
            </a:r>
            <a:endParaRPr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5" name="Google Shape;965;p66"/>
          <p:cNvCxnSpPr>
            <a:endCxn id="966" idx="6"/>
          </p:cNvCxnSpPr>
          <p:nvPr/>
        </p:nvCxnSpPr>
        <p:spPr>
          <a:xfrm>
            <a:off x="2044242" y="2676623"/>
            <a:ext cx="48222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7" name="Google Shape;967;p66"/>
          <p:cNvSpPr/>
          <p:nvPr/>
        </p:nvSpPr>
        <p:spPr>
          <a:xfrm>
            <a:off x="3985325" y="2496026"/>
            <a:ext cx="361200" cy="3612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28613" rotWithShape="0" algn="bl" dir="2700000" dist="28575">
              <a:schemeClr val="accent3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8" name="Google Shape;968;p66"/>
          <p:cNvSpPr/>
          <p:nvPr/>
        </p:nvSpPr>
        <p:spPr>
          <a:xfrm>
            <a:off x="1930100" y="2496026"/>
            <a:ext cx="361200" cy="3612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28613" rotWithShape="0" algn="bl" dir="2700000" dist="28575">
              <a:schemeClr val="accent4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6" name="Google Shape;966;p66"/>
          <p:cNvSpPr/>
          <p:nvPr/>
        </p:nvSpPr>
        <p:spPr>
          <a:xfrm>
            <a:off x="6040542" y="2263523"/>
            <a:ext cx="825900" cy="826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9" name="Google Shape;969;p66"/>
          <p:cNvSpPr txBox="1"/>
          <p:nvPr>
            <p:ph idx="5" type="title"/>
          </p:nvPr>
        </p:nvSpPr>
        <p:spPr>
          <a:xfrm>
            <a:off x="1686950" y="1970325"/>
            <a:ext cx="9147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Approach</a:t>
            </a:r>
            <a:endParaRPr/>
          </a:p>
        </p:txBody>
      </p:sp>
      <p:sp>
        <p:nvSpPr>
          <p:cNvPr id="970" name="Google Shape;970;p66"/>
          <p:cNvSpPr txBox="1"/>
          <p:nvPr>
            <p:ph idx="3" type="title"/>
          </p:nvPr>
        </p:nvSpPr>
        <p:spPr>
          <a:xfrm>
            <a:off x="3752975" y="1970325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Pivot</a:t>
            </a:r>
            <a:endParaRPr/>
          </a:p>
        </p:txBody>
      </p:sp>
      <p:sp>
        <p:nvSpPr>
          <p:cNvPr id="971" name="Google Shape;971;p66"/>
          <p:cNvSpPr txBox="1"/>
          <p:nvPr>
            <p:ph idx="7" type="title"/>
          </p:nvPr>
        </p:nvSpPr>
        <p:spPr>
          <a:xfrm>
            <a:off x="6040538" y="1730485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Refined Policy</a:t>
            </a:r>
            <a:endParaRPr/>
          </a:p>
        </p:txBody>
      </p:sp>
      <p:sp>
        <p:nvSpPr>
          <p:cNvPr id="972" name="Google Shape;972;p66"/>
          <p:cNvSpPr txBox="1"/>
          <p:nvPr>
            <p:ph idx="1" type="body"/>
          </p:nvPr>
        </p:nvSpPr>
        <p:spPr>
          <a:xfrm>
            <a:off x="1457000" y="2960850"/>
            <a:ext cx="1374600" cy="17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Racism &amp; Hate Speech Labeler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49">
                <a:solidFill>
                  <a:srgbClr val="E53E3E"/>
                </a:solidFill>
                <a:latin typeface="Arial"/>
                <a:ea typeface="Arial"/>
                <a:cs typeface="Arial"/>
                <a:sym typeface="Arial"/>
              </a:rPr>
              <a:t>Hurdle:</a:t>
            </a:r>
            <a:r>
              <a:rPr lang="en" sz="949">
                <a:solidFill>
                  <a:srgbClr val="E53E3E"/>
                </a:solidFill>
                <a:latin typeface="Arial"/>
                <a:ea typeface="Arial"/>
                <a:cs typeface="Arial"/>
                <a:sym typeface="Arial"/>
              </a:rPr>
              <a:t> Redundant. Bluesky's core team already has robust, effective moderation for hate speech.</a:t>
            </a:r>
            <a:endParaRPr b="1" sz="749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3" name="Google Shape;973;p66"/>
          <p:cNvSpPr txBox="1"/>
          <p:nvPr>
            <p:ph type="title"/>
          </p:nvPr>
        </p:nvSpPr>
        <p:spPr>
          <a:xfrm>
            <a:off x="115025" y="421625"/>
            <a:ext cx="582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/>
              <a:t>Iteration: Pivots &amp; Hurdles</a:t>
            </a:r>
            <a:endParaRPr b="1" sz="2800"/>
          </a:p>
        </p:txBody>
      </p:sp>
      <p:sp>
        <p:nvSpPr>
          <p:cNvPr id="974" name="Google Shape;974;p66"/>
          <p:cNvSpPr txBox="1"/>
          <p:nvPr>
            <p:ph idx="14" type="body"/>
          </p:nvPr>
        </p:nvSpPr>
        <p:spPr>
          <a:xfrm>
            <a:off x="3477150" y="2960850"/>
            <a:ext cx="1374600" cy="18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URL Scam Pivot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Arial"/>
                <a:ea typeface="Arial"/>
                <a:cs typeface="Arial"/>
                <a:sym typeface="Arial"/>
              </a:rPr>
              <a:t>Insight:</a:t>
            </a:r>
            <a:r>
              <a:rPr lang="en" sz="900">
                <a:latin typeface="Arial"/>
                <a:ea typeface="Arial"/>
                <a:cs typeface="Arial"/>
                <a:sym typeface="Arial"/>
              </a:rPr>
              <a:t> Malicious URLs are hard to filter at the protocol level without risking over-censorship.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5" name="Google Shape;975;p66"/>
          <p:cNvSpPr txBox="1"/>
          <p:nvPr>
            <p:ph idx="14" type="body"/>
          </p:nvPr>
        </p:nvSpPr>
        <p:spPr>
          <a:xfrm>
            <a:off x="5766200" y="3089725"/>
            <a:ext cx="1374600" cy="17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Heuristic Scoring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8A169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r>
              <a:rPr lang="en" sz="900">
                <a:solidFill>
                  <a:srgbClr val="38A169"/>
                </a:solidFill>
                <a:latin typeface="Arial"/>
                <a:ea typeface="Arial"/>
                <a:cs typeface="Arial"/>
                <a:sym typeface="Arial"/>
              </a:rPr>
              <a:t> Moved from binary blocking to a "Scam Score" (Profile + Content) to reduce false positives.</a:t>
            </a:r>
            <a:endParaRPr b="1" sz="9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67"/>
          <p:cNvSpPr/>
          <p:nvPr/>
        </p:nvSpPr>
        <p:spPr>
          <a:xfrm>
            <a:off x="6711900" y="2313075"/>
            <a:ext cx="1450800" cy="1644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1" name="Google Shape;981;p67"/>
          <p:cNvSpPr/>
          <p:nvPr/>
        </p:nvSpPr>
        <p:spPr>
          <a:xfrm>
            <a:off x="4862400" y="2313075"/>
            <a:ext cx="1450800" cy="1644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2" name="Google Shape;982;p67"/>
          <p:cNvSpPr/>
          <p:nvPr/>
        </p:nvSpPr>
        <p:spPr>
          <a:xfrm>
            <a:off x="2999100" y="2313075"/>
            <a:ext cx="1450800" cy="1644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3" name="Google Shape;983;p67"/>
          <p:cNvSpPr/>
          <p:nvPr/>
        </p:nvSpPr>
        <p:spPr>
          <a:xfrm>
            <a:off x="1070300" y="2313075"/>
            <a:ext cx="1450800" cy="1644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4" name="Google Shape;984;p67"/>
          <p:cNvSpPr txBox="1"/>
          <p:nvPr>
            <p:ph type="title"/>
          </p:nvPr>
        </p:nvSpPr>
        <p:spPr>
          <a:xfrm>
            <a:off x="1865850" y="194000"/>
            <a:ext cx="59514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IBM Plex Sans"/>
                <a:ea typeface="IBM Plex Sans"/>
                <a:cs typeface="IBM Plex Sans"/>
                <a:sym typeface="IBM Plex Sans"/>
              </a:rPr>
              <a:t>Proposed Policy/Approach</a:t>
            </a:r>
            <a:endParaRPr b="1" sz="30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85" name="Google Shape;985;p67"/>
          <p:cNvSpPr txBox="1"/>
          <p:nvPr>
            <p:ph idx="3" type="subTitle"/>
          </p:nvPr>
        </p:nvSpPr>
        <p:spPr>
          <a:xfrm>
            <a:off x="1084850" y="2421450"/>
            <a:ext cx="14217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do not remove content. We apply a "Potential URL Scam" label to contextualize risk, empowering users to make their own decisions.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86" name="Google Shape;986;p67"/>
          <p:cNvSpPr txBox="1"/>
          <p:nvPr>
            <p:ph idx="9" type="title"/>
          </p:nvPr>
        </p:nvSpPr>
        <p:spPr>
          <a:xfrm>
            <a:off x="1865850" y="648250"/>
            <a:ext cx="42075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Labeling over Removal</a:t>
            </a:r>
            <a:endParaRPr sz="1800"/>
          </a:p>
        </p:txBody>
      </p:sp>
      <p:sp>
        <p:nvSpPr>
          <p:cNvPr id="987" name="Google Shape;987;p67"/>
          <p:cNvSpPr txBox="1"/>
          <p:nvPr>
            <p:ph idx="14" type="title"/>
          </p:nvPr>
        </p:nvSpPr>
        <p:spPr>
          <a:xfrm>
            <a:off x="2942250" y="1649988"/>
            <a:ext cx="15645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Behavioral Definition</a:t>
            </a:r>
            <a:endParaRPr b="1" sz="1200"/>
          </a:p>
        </p:txBody>
      </p:sp>
      <p:sp>
        <p:nvSpPr>
          <p:cNvPr id="988" name="Google Shape;988;p67"/>
          <p:cNvSpPr txBox="1"/>
          <p:nvPr>
            <p:ph idx="15" type="title"/>
          </p:nvPr>
        </p:nvSpPr>
        <p:spPr>
          <a:xfrm>
            <a:off x="7204200" y="1683313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67"/>
          <p:cNvSpPr txBox="1"/>
          <p:nvPr>
            <p:ph idx="16" type="title"/>
          </p:nvPr>
        </p:nvSpPr>
        <p:spPr>
          <a:xfrm>
            <a:off x="4798650" y="1660938"/>
            <a:ext cx="15645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Proactive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Defense</a:t>
            </a:r>
            <a:endParaRPr b="1" sz="1200"/>
          </a:p>
        </p:txBody>
      </p:sp>
      <p:sp>
        <p:nvSpPr>
          <p:cNvPr id="990" name="Google Shape;990;p67"/>
          <p:cNvSpPr txBox="1"/>
          <p:nvPr>
            <p:ph idx="17" type="title"/>
          </p:nvPr>
        </p:nvSpPr>
        <p:spPr>
          <a:xfrm>
            <a:off x="1013450" y="1649988"/>
            <a:ext cx="15645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Informational Labeling</a:t>
            </a:r>
            <a:endParaRPr b="1" sz="1200"/>
          </a:p>
        </p:txBody>
      </p:sp>
      <p:sp>
        <p:nvSpPr>
          <p:cNvPr id="991" name="Google Shape;991;p67"/>
          <p:cNvSpPr txBox="1"/>
          <p:nvPr>
            <p:ph idx="16" type="title"/>
          </p:nvPr>
        </p:nvSpPr>
        <p:spPr>
          <a:xfrm>
            <a:off x="6655050" y="1660938"/>
            <a:ext cx="15645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Community Preservation</a:t>
            </a:r>
            <a:endParaRPr b="1" sz="1200"/>
          </a:p>
        </p:txBody>
      </p:sp>
      <p:sp>
        <p:nvSpPr>
          <p:cNvPr id="992" name="Google Shape;992;p67"/>
          <p:cNvSpPr txBox="1"/>
          <p:nvPr>
            <p:ph idx="3" type="subTitle"/>
          </p:nvPr>
        </p:nvSpPr>
        <p:spPr>
          <a:xfrm>
            <a:off x="3013650" y="2421450"/>
            <a:ext cx="14217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"scam" is defined not just by a link, but by the convergence of bot-like metrics (ratios) and high-pressure semantic cues.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3" name="Google Shape;993;p67"/>
          <p:cNvSpPr txBox="1"/>
          <p:nvPr>
            <p:ph idx="3" type="subTitle"/>
          </p:nvPr>
        </p:nvSpPr>
        <p:spPr>
          <a:xfrm>
            <a:off x="4888800" y="2421450"/>
            <a:ext cx="13980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target the </a:t>
            </a:r>
            <a:r>
              <a:rPr i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behavior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scammer (mass following, hashtag flooding) rather than waiting for a domain to be blacklisted.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4" name="Google Shape;994;p67"/>
          <p:cNvSpPr txBox="1"/>
          <p:nvPr>
            <p:ph idx="3" type="subTitle"/>
          </p:nvPr>
        </p:nvSpPr>
        <p:spPr>
          <a:xfrm>
            <a:off x="6711900" y="2421450"/>
            <a:ext cx="14508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using opt-in labelers, we preserve the open nature of the AT Protocol while protecting vulnerable users.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68"/>
          <p:cNvSpPr/>
          <p:nvPr/>
        </p:nvSpPr>
        <p:spPr>
          <a:xfrm>
            <a:off x="5508722" y="1846375"/>
            <a:ext cx="177600" cy="288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0" name="Google Shape;1000;p68"/>
          <p:cNvSpPr txBox="1"/>
          <p:nvPr>
            <p:ph idx="1" type="body"/>
          </p:nvPr>
        </p:nvSpPr>
        <p:spPr>
          <a:xfrm>
            <a:off x="275175" y="1964275"/>
            <a:ext cx="42969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Developed </a:t>
            </a:r>
            <a:r>
              <a:rPr lang="en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synthetic_posts.json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simulate edge cases (e.g., bot profiles with safe links, human profiles with risky links).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</a:t>
            </a:r>
            <a:r>
              <a:rPr lang="en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unittest.mock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simulate API responses for profile metrics without spamming the live network.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01" name="Google Shape;1001;p68"/>
          <p:cNvSpPr txBox="1"/>
          <p:nvPr>
            <p:ph idx="2" type="body"/>
          </p:nvPr>
        </p:nvSpPr>
        <p:spPr>
          <a:xfrm>
            <a:off x="275175" y="3344949"/>
            <a:ext cx="45336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Tested against the live "Firesky" feed to identify false positives.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lang="en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Outcome: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Tuned the cumulative risk threshold to </a:t>
            </a: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points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balance sensitivity and precision.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02" name="Google Shape;1002;p68"/>
          <p:cNvSpPr txBox="1"/>
          <p:nvPr>
            <p:ph idx="5" type="title"/>
          </p:nvPr>
        </p:nvSpPr>
        <p:spPr>
          <a:xfrm>
            <a:off x="38100" y="319650"/>
            <a:ext cx="55620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IBM Plex Sans"/>
                <a:ea typeface="IBM Plex Sans"/>
                <a:cs typeface="IBM Plex Sans"/>
                <a:sym typeface="IBM Plex Sans"/>
              </a:rPr>
              <a:t>Testing &amp; Evaluation Strategy</a:t>
            </a:r>
            <a:endParaRPr b="1" sz="30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03" name="Google Shape;1003;p68"/>
          <p:cNvSpPr txBox="1"/>
          <p:nvPr>
            <p:ph idx="7" type="subTitle"/>
          </p:nvPr>
        </p:nvSpPr>
        <p:spPr>
          <a:xfrm>
            <a:off x="275175" y="1621250"/>
            <a:ext cx="29256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/>
              <a:t>Synthetic Data Pipeline</a:t>
            </a:r>
            <a:endParaRPr/>
          </a:p>
        </p:txBody>
      </p:sp>
      <p:sp>
        <p:nvSpPr>
          <p:cNvPr id="1004" name="Google Shape;1004;p68"/>
          <p:cNvSpPr txBox="1"/>
          <p:nvPr>
            <p:ph idx="8" type="subTitle"/>
          </p:nvPr>
        </p:nvSpPr>
        <p:spPr>
          <a:xfrm>
            <a:off x="275175" y="3001924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Real-World Validation</a:t>
            </a:r>
            <a:endParaRPr/>
          </a:p>
        </p:txBody>
      </p:sp>
      <p:sp>
        <p:nvSpPr>
          <p:cNvPr id="1005" name="Google Shape;1005;p68"/>
          <p:cNvSpPr/>
          <p:nvPr/>
        </p:nvSpPr>
        <p:spPr>
          <a:xfrm>
            <a:off x="5508725" y="1801500"/>
            <a:ext cx="2074800" cy="23529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{ "SYNTHETIC_SCAM_01": { "text": "GUARANTEED RETURNS! bit.ly/scam", "profile": { "followers": 2, "following": 5000, "posts": 150 } }, "SYNTHETIC_SAFE_01": { "text": "Check out my new blog post", "profile": { "followers": 500, "following": 200, "posts": 1200 } } }</a:t>
            </a:r>
            <a:endParaRPr sz="1300">
              <a:solidFill>
                <a:schemeClr val="dk1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</p:txBody>
      </p:sp>
      <p:sp>
        <p:nvSpPr>
          <p:cNvPr id="1006" name="Google Shape;1006;p68"/>
          <p:cNvSpPr/>
          <p:nvPr/>
        </p:nvSpPr>
        <p:spPr>
          <a:xfrm>
            <a:off x="5508725" y="1704350"/>
            <a:ext cx="1582500" cy="228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synthetic_posts.json</a:t>
            </a:r>
            <a:endParaRPr b="1"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69"/>
          <p:cNvSpPr txBox="1"/>
          <p:nvPr>
            <p:ph type="title"/>
          </p:nvPr>
        </p:nvSpPr>
        <p:spPr>
          <a:xfrm>
            <a:off x="3720025" y="1533977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Multisignal Detection 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Instead of relying on a single indicator, our system combines profile heuristics, language cues, emoji/hashtag patterns, and URL analysis. This reduces false positives and false negatives because scam posts often exhibit multiple weak signals rather than one strong one.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12" name="Google Shape;1012;p69"/>
          <p:cNvSpPr txBox="1"/>
          <p:nvPr>
            <p:ph idx="2" type="title"/>
          </p:nvPr>
        </p:nvSpPr>
        <p:spPr>
          <a:xfrm>
            <a:off x="7148925" y="1533977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Lightweight and Fast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The checks are computationally inexpensive, string matching, ratio calculations, and CSV lookups—making the system easy to run in real time without ML infrastructure or model latency.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13" name="Google Shape;1013;p69"/>
          <p:cNvSpPr txBox="1"/>
          <p:nvPr>
            <p:ph idx="3" type="title"/>
          </p:nvPr>
        </p:nvSpPr>
        <p:spPr>
          <a:xfrm>
            <a:off x="5434475" y="1533977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Robustness to Evasion Tactics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Because multiple independent checks are used, like profile behavior, URLs, text content, an attacker must evade many different types of detection at once, making the system harder to game.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14" name="Google Shape;1014;p69"/>
          <p:cNvSpPr txBox="1"/>
          <p:nvPr>
            <p:ph idx="5" type="title"/>
          </p:nvPr>
        </p:nvSpPr>
        <p:spPr>
          <a:xfrm>
            <a:off x="108300" y="1131596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Technical Approach</a:t>
            </a:r>
            <a:endParaRPr b="1"/>
          </a:p>
        </p:txBody>
      </p:sp>
      <p:sp>
        <p:nvSpPr>
          <p:cNvPr id="1015" name="Google Shape;1015;p69"/>
          <p:cNvSpPr txBox="1"/>
          <p:nvPr>
            <p:ph idx="6" type="title"/>
          </p:nvPr>
        </p:nvSpPr>
        <p:spPr>
          <a:xfrm>
            <a:off x="3720025" y="1112777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How we’ll address these potential scams</a:t>
            </a:r>
            <a:endParaRPr b="1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6" name="Google Shape;1016;p69"/>
          <p:cNvSpPr/>
          <p:nvPr/>
        </p:nvSpPr>
        <p:spPr>
          <a:xfrm flipH="1" rot="10800000">
            <a:off x="3820750" y="1452527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1" name="Google Shape;1021;p70"/>
          <p:cNvCxnSpPr/>
          <p:nvPr/>
        </p:nvCxnSpPr>
        <p:spPr>
          <a:xfrm>
            <a:off x="682863" y="2676625"/>
            <a:ext cx="7683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2" name="Google Shape;1022;p70"/>
          <p:cNvSpPr/>
          <p:nvPr/>
        </p:nvSpPr>
        <p:spPr>
          <a:xfrm>
            <a:off x="2350300" y="2496026"/>
            <a:ext cx="361200" cy="3612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28613" rotWithShape="0" algn="bl" dir="2700000" dist="28575">
              <a:schemeClr val="accent3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3" name="Google Shape;1023;p70"/>
          <p:cNvSpPr/>
          <p:nvPr/>
        </p:nvSpPr>
        <p:spPr>
          <a:xfrm>
            <a:off x="4215088" y="2496026"/>
            <a:ext cx="361200" cy="361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4" name="Google Shape;1024;p70"/>
          <p:cNvSpPr/>
          <p:nvPr/>
        </p:nvSpPr>
        <p:spPr>
          <a:xfrm>
            <a:off x="621400" y="2496026"/>
            <a:ext cx="361200" cy="3612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28613" rotWithShape="0" algn="bl" dir="2700000" dist="28575">
              <a:schemeClr val="accent4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5" name="Google Shape;1025;p70"/>
          <p:cNvSpPr/>
          <p:nvPr/>
        </p:nvSpPr>
        <p:spPr>
          <a:xfrm>
            <a:off x="6089013" y="2496033"/>
            <a:ext cx="361200" cy="361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85775" rotWithShape="0" algn="bl" dir="7800000" dist="7620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6" name="Google Shape;1026;p70"/>
          <p:cNvSpPr/>
          <p:nvPr/>
        </p:nvSpPr>
        <p:spPr>
          <a:xfrm>
            <a:off x="7730567" y="2263523"/>
            <a:ext cx="825900" cy="826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7" name="Google Shape;1027;p7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</a:t>
            </a:r>
            <a:endParaRPr/>
          </a:p>
        </p:txBody>
      </p:sp>
      <p:sp>
        <p:nvSpPr>
          <p:cNvPr id="1028" name="Google Shape;1028;p7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</a:t>
            </a:r>
            <a:endParaRPr/>
          </a:p>
        </p:txBody>
      </p:sp>
      <p:sp>
        <p:nvSpPr>
          <p:cNvPr id="1029" name="Google Shape;1029;p7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</a:t>
            </a:r>
            <a:endParaRPr/>
          </a:p>
        </p:txBody>
      </p:sp>
      <p:sp>
        <p:nvSpPr>
          <p:cNvPr id="1030" name="Google Shape;1030;p7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4</a:t>
            </a:r>
            <a:endParaRPr/>
          </a:p>
        </p:txBody>
      </p:sp>
      <p:sp>
        <p:nvSpPr>
          <p:cNvPr id="1031" name="Google Shape;1031;p7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</a:t>
            </a:r>
            <a:endParaRPr/>
          </a:p>
        </p:txBody>
      </p:sp>
      <p:sp>
        <p:nvSpPr>
          <p:cNvPr id="1032" name="Google Shape;1032;p7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Checks for potential scams</a:t>
            </a:r>
            <a:endParaRPr/>
          </a:p>
        </p:txBody>
      </p:sp>
      <p:sp>
        <p:nvSpPr>
          <p:cNvPr id="1033" name="Google Shape;1033;p70"/>
          <p:cNvSpPr txBox="1"/>
          <p:nvPr>
            <p:ph type="title"/>
          </p:nvPr>
        </p:nvSpPr>
        <p:spPr>
          <a:xfrm>
            <a:off x="115025" y="502775"/>
            <a:ext cx="5829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Approach</a:t>
            </a:r>
            <a:endParaRPr/>
          </a:p>
        </p:txBody>
      </p:sp>
      <p:sp>
        <p:nvSpPr>
          <p:cNvPr id="1034" name="Google Shape;1034;p7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Checks for suspicious language</a:t>
            </a:r>
            <a:endParaRPr/>
          </a:p>
        </p:txBody>
      </p:sp>
      <p:sp>
        <p:nvSpPr>
          <p:cNvPr id="1035" name="Google Shape;1035;p7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Checks for </a:t>
            </a:r>
            <a:r>
              <a:rPr lang="en"/>
              <a:t>commonly</a:t>
            </a:r>
            <a:r>
              <a:rPr lang="en"/>
              <a:t> used urls to scam sites</a:t>
            </a:r>
            <a:endParaRPr/>
          </a:p>
        </p:txBody>
      </p:sp>
      <p:sp>
        <p:nvSpPr>
          <p:cNvPr id="1036" name="Google Shape;1036;p7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Checks for high use of emojis</a:t>
            </a:r>
            <a:endParaRPr/>
          </a:p>
        </p:txBody>
      </p:sp>
      <p:sp>
        <p:nvSpPr>
          <p:cNvPr id="1037" name="Google Shape;1037;p7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scam score is output, if the score is higher than 5, then the post is flagged as a potential scam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71"/>
          <p:cNvSpPr txBox="1"/>
          <p:nvPr>
            <p:ph idx="4" type="title"/>
          </p:nvPr>
        </p:nvSpPr>
        <p:spPr>
          <a:xfrm>
            <a:off x="141275" y="343450"/>
            <a:ext cx="6507000" cy="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IBM Plex Sans"/>
                <a:ea typeface="IBM Plex Sans"/>
                <a:cs typeface="IBM Plex Sans"/>
                <a:sym typeface="IBM Plex Sans"/>
              </a:rPr>
              <a:t>Test Design</a:t>
            </a:r>
            <a:endParaRPr sz="10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3" name="Google Shape;1043;p71"/>
          <p:cNvSpPr txBox="1"/>
          <p:nvPr>
            <p:ph idx="4294967295" type="subTitle"/>
          </p:nvPr>
        </p:nvSpPr>
        <p:spPr>
          <a:xfrm>
            <a:off x="228600" y="1152925"/>
            <a:ext cx="7306800" cy="3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Test Set : </a:t>
            </a:r>
            <a:r>
              <a:rPr lang="en" sz="1200">
                <a:latin typeface="Sora Light"/>
                <a:ea typeface="Sora Light"/>
                <a:cs typeface="Sora Light"/>
                <a:sym typeface="Sora Light"/>
              </a:rPr>
              <a:t>154 manually annotated posts (34 real Bluesky posts and 120 synthetic posts)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44" name="Google Shape;1044;p71"/>
          <p:cNvSpPr txBox="1"/>
          <p:nvPr>
            <p:ph idx="4294967295" type="subTitle"/>
          </p:nvPr>
        </p:nvSpPr>
        <p:spPr>
          <a:xfrm>
            <a:off x="310250" y="3114550"/>
            <a:ext cx="3962400" cy="18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Approach</a:t>
            </a:r>
            <a:r>
              <a:rPr b="1" lang="en"/>
              <a:t> :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Sora Light"/>
                <a:ea typeface="Sora Light"/>
                <a:cs typeface="Sora Light"/>
                <a:sym typeface="Sora Light"/>
              </a:rPr>
              <a:t>We compared the system's output with human-labeled text one by one, and used the naturalness of real posts and the controllability of synthetic posts to test the model's performance under different conditions. </a:t>
            </a:r>
            <a:endParaRPr b="1"/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45" name="Google Shape;1045;p71"/>
          <p:cNvSpPr txBox="1"/>
          <p:nvPr>
            <p:ph idx="4294967295" type="subTitle"/>
          </p:nvPr>
        </p:nvSpPr>
        <p:spPr>
          <a:xfrm>
            <a:off x="4272650" y="3042710"/>
            <a:ext cx="4504800" cy="19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This Is Appropriate</a:t>
            </a:r>
            <a:r>
              <a:rPr b="1" lang="en"/>
              <a:t> :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Sora Light"/>
              <a:buChar char="●"/>
            </a:pPr>
            <a:r>
              <a:rPr lang="en" sz="1200">
                <a:latin typeface="Sora Light"/>
                <a:ea typeface="Sora Light"/>
                <a:cs typeface="Sora Light"/>
                <a:sym typeface="Sora Light"/>
              </a:rPr>
              <a:t>Combines authenticity (real posts) with completeness (synthetic coverage)</a:t>
            </a:r>
            <a:endParaRPr sz="1200">
              <a:latin typeface="Sora Light"/>
              <a:ea typeface="Sora Light"/>
              <a:cs typeface="Sora Light"/>
              <a:sym typeface="Sora Ligh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ra Light"/>
              <a:buChar char="●"/>
            </a:pPr>
            <a:r>
              <a:rPr lang="en" sz="1200">
                <a:latin typeface="Sora Light"/>
                <a:ea typeface="Sora Light"/>
                <a:cs typeface="Sora Light"/>
                <a:sym typeface="Sora Light"/>
              </a:rPr>
              <a:t>Allows testing both common scenarios and low-frequency but critical threats</a:t>
            </a:r>
            <a:endParaRPr sz="1200">
              <a:latin typeface="Sora Light"/>
              <a:ea typeface="Sora Light"/>
              <a:cs typeface="Sora Light"/>
              <a:sym typeface="Sora Ligh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ra Light"/>
              <a:buChar char="●"/>
            </a:pPr>
            <a:r>
              <a:rPr lang="en" sz="1200">
                <a:latin typeface="Sora Light"/>
                <a:ea typeface="Sora Light"/>
                <a:cs typeface="Sora Light"/>
                <a:sym typeface="Sora Light"/>
              </a:rPr>
              <a:t>Produces a meaningful stress test(154) to evaluate robustness and real-world reliability</a:t>
            </a:r>
            <a:endParaRPr sz="12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pic>
        <p:nvPicPr>
          <p:cNvPr id="1046" name="Google Shape;1046;p71" title="截屏2025-11-24 00.49.31.png"/>
          <p:cNvPicPr preferRelativeResize="0"/>
          <p:nvPr/>
        </p:nvPicPr>
        <p:blipFill rotWithShape="1">
          <a:blip r:embed="rId3">
            <a:alphaModFix/>
          </a:blip>
          <a:srcRect b="56478" l="4315" r="0" t="0"/>
          <a:stretch/>
        </p:blipFill>
        <p:spPr>
          <a:xfrm>
            <a:off x="345538" y="1548625"/>
            <a:ext cx="8452925" cy="1321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72"/>
          <p:cNvSpPr txBox="1"/>
          <p:nvPr>
            <p:ph idx="3" type="title"/>
          </p:nvPr>
        </p:nvSpPr>
        <p:spPr>
          <a:xfrm>
            <a:off x="115025" y="502775"/>
            <a:ext cx="3905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73"/>
          <p:cNvSpPr txBox="1"/>
          <p:nvPr>
            <p:ph idx="3" type="title"/>
          </p:nvPr>
        </p:nvSpPr>
        <p:spPr>
          <a:xfrm>
            <a:off x="513500" y="2015225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Travel-style scam ad</a:t>
            </a:r>
            <a:endParaRPr/>
          </a:p>
        </p:txBody>
      </p:sp>
      <p:sp>
        <p:nvSpPr>
          <p:cNvPr id="1057" name="Google Shape;1057;p73"/>
          <p:cNvSpPr txBox="1"/>
          <p:nvPr>
            <p:ph idx="5" type="title"/>
          </p:nvPr>
        </p:nvSpPr>
        <p:spPr>
          <a:xfrm>
            <a:off x="5567663" y="2015225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Unlisted phishing URL</a:t>
            </a:r>
            <a:endParaRPr/>
          </a:p>
        </p:txBody>
      </p:sp>
      <p:sp>
        <p:nvSpPr>
          <p:cNvPr id="1058" name="Google Shape;1058;p73"/>
          <p:cNvSpPr txBox="1"/>
          <p:nvPr>
            <p:ph idx="2" type="title"/>
          </p:nvPr>
        </p:nvSpPr>
        <p:spPr>
          <a:xfrm>
            <a:off x="115025" y="502775"/>
            <a:ext cx="605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Results </a:t>
            </a:r>
            <a:endParaRPr/>
          </a:p>
        </p:txBody>
      </p:sp>
      <p:sp>
        <p:nvSpPr>
          <p:cNvPr id="1059" name="Google Shape;1059;p73"/>
          <p:cNvSpPr txBox="1"/>
          <p:nvPr>
            <p:ph idx="4" type="title"/>
          </p:nvPr>
        </p:nvSpPr>
        <p:spPr>
          <a:xfrm>
            <a:off x="2925625" y="2015225"/>
            <a:ext cx="2061000" cy="311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Telegram sexual scam </a:t>
            </a:r>
            <a:endParaRPr/>
          </a:p>
        </p:txBody>
      </p:sp>
      <p:sp>
        <p:nvSpPr>
          <p:cNvPr id="1060" name="Google Shape;1060;p73"/>
          <p:cNvSpPr txBox="1"/>
          <p:nvPr>
            <p:ph idx="6" type="body"/>
          </p:nvPr>
        </p:nvSpPr>
        <p:spPr>
          <a:xfrm>
            <a:off x="513500" y="3506300"/>
            <a:ext cx="1986600" cy="12414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polished, promotional-style wording that appeared harmless, so none of the suspicious-language or urgency-cue rules were activated</a:t>
            </a:r>
            <a:endParaRPr sz="900">
              <a:solidFill>
                <a:schemeClr val="dk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061" name="Google Shape;1061;p73"/>
          <p:cNvSpPr txBox="1"/>
          <p:nvPr>
            <p:ph idx="9" type="body"/>
          </p:nvPr>
        </p:nvSpPr>
        <p:spPr>
          <a:xfrm>
            <a:off x="5445375" y="2961950"/>
            <a:ext cx="2264700" cy="6834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Sora Medium"/>
                <a:ea typeface="Sora Medium"/>
                <a:cs typeface="Sora Medium"/>
                <a:sym typeface="Sora Medium"/>
              </a:rPr>
              <a:t>Why was the judgment wrong?</a:t>
            </a:r>
            <a:endParaRPr>
              <a:solidFill>
                <a:schemeClr val="accent6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062" name="Google Shape;1062;p73"/>
          <p:cNvSpPr txBox="1"/>
          <p:nvPr>
            <p:ph idx="1" type="body"/>
          </p:nvPr>
        </p:nvSpPr>
        <p:spPr>
          <a:xfrm>
            <a:off x="500525" y="3009800"/>
            <a:ext cx="1834500" cy="5877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Sora Medium"/>
                <a:ea typeface="Sora Medium"/>
                <a:cs typeface="Sora Medium"/>
                <a:sym typeface="Sora Medium"/>
              </a:rPr>
              <a:t>Why was the judgment incorrect?</a:t>
            </a:r>
            <a:endParaRPr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063" name="Google Shape;1063;p73"/>
          <p:cNvSpPr txBox="1"/>
          <p:nvPr>
            <p:ph idx="8" type="body"/>
          </p:nvPr>
        </p:nvSpPr>
        <p:spPr>
          <a:xfrm>
            <a:off x="3003388" y="3506300"/>
            <a:ext cx="2061000" cy="4542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rPr>
              <a:t>Why was the judgment incorrect?</a:t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cxnSp>
        <p:nvCxnSpPr>
          <p:cNvPr id="1064" name="Google Shape;1064;p73"/>
          <p:cNvCxnSpPr/>
          <p:nvPr/>
        </p:nvCxnSpPr>
        <p:spPr>
          <a:xfrm rot="5400000">
            <a:off x="3971450" y="3259775"/>
            <a:ext cx="2489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5" name="Google Shape;1065;p73"/>
          <p:cNvCxnSpPr/>
          <p:nvPr/>
        </p:nvCxnSpPr>
        <p:spPr>
          <a:xfrm rot="5400000">
            <a:off x="1439300" y="3259775"/>
            <a:ext cx="2489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6" name="Google Shape;1066;p73"/>
          <p:cNvSpPr txBox="1"/>
          <p:nvPr/>
        </p:nvSpPr>
        <p:spPr>
          <a:xfrm>
            <a:off x="930650" y="1132288"/>
            <a:ext cx="584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151 / 154 correct classifications （Accuracy: 0.98）</a:t>
            </a:r>
            <a:endParaRPr b="1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067" name="Google Shape;1067;p73" title="截屏2025-11-24 01.12.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026" y="2326400"/>
            <a:ext cx="1941550" cy="587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73" title="截屏2025-11-24 01.15.55.png"/>
          <p:cNvPicPr preferRelativeResize="0"/>
          <p:nvPr/>
        </p:nvPicPr>
        <p:blipFill rotWithShape="1">
          <a:blip r:embed="rId4">
            <a:alphaModFix/>
          </a:blip>
          <a:srcRect b="26788" l="0" r="0" t="0"/>
          <a:stretch/>
        </p:blipFill>
        <p:spPr>
          <a:xfrm>
            <a:off x="3029638" y="2350063"/>
            <a:ext cx="1634300" cy="1006289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73"/>
          <p:cNvSpPr txBox="1"/>
          <p:nvPr>
            <p:ph idx="6" type="body"/>
          </p:nvPr>
        </p:nvSpPr>
        <p:spPr>
          <a:xfrm>
            <a:off x="2956625" y="3960500"/>
            <a:ext cx="1986600" cy="4542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“dog / bark / playhouse” phrasing bypassed semantic rules</a:t>
            </a:r>
            <a:endParaRPr sz="900">
              <a:solidFill>
                <a:schemeClr val="dk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pic>
        <p:nvPicPr>
          <p:cNvPr id="1070" name="Google Shape;1070;p73" title="截屏2025-11-24 01.19.0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5375" y="2374250"/>
            <a:ext cx="2402206" cy="5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73"/>
          <p:cNvSpPr txBox="1"/>
          <p:nvPr>
            <p:ph idx="6" type="body"/>
          </p:nvPr>
        </p:nvSpPr>
        <p:spPr>
          <a:xfrm>
            <a:off x="5491625" y="3445275"/>
            <a:ext cx="1986600" cy="10062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phishing domain was not present in the malicious_phish.csv blacklist, causing the URL check to assign no risk score,</a:t>
            </a:r>
            <a:endParaRPr sz="900">
              <a:solidFill>
                <a:schemeClr val="dk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072" name="Google Shape;1072;p73"/>
          <p:cNvSpPr txBox="1"/>
          <p:nvPr/>
        </p:nvSpPr>
        <p:spPr>
          <a:xfrm>
            <a:off x="108100" y="4543021"/>
            <a:ext cx="785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Broader posting-style and behavioral analysis + dynamic URL database</a:t>
            </a:r>
            <a:endParaRPr sz="12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73" name="Google Shape;1073;p73"/>
          <p:cNvSpPr txBox="1"/>
          <p:nvPr/>
        </p:nvSpPr>
        <p:spPr>
          <a:xfrm>
            <a:off x="228600" y="1462350"/>
            <a:ext cx="789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Efficient multi-signal detection, but limited by cleverly disguised or metaphorical scam content</a:t>
            </a:r>
            <a:endParaRPr sz="12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74"/>
          <p:cNvSpPr txBox="1"/>
          <p:nvPr>
            <p:ph idx="4" type="title"/>
          </p:nvPr>
        </p:nvSpPr>
        <p:spPr>
          <a:xfrm>
            <a:off x="141275" y="343450"/>
            <a:ext cx="6528300" cy="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IBM Plex Sans"/>
                <a:ea typeface="IBM Plex Sans"/>
                <a:cs typeface="IBM Plex Sans"/>
                <a:sym typeface="IBM Plex Sans"/>
              </a:rPr>
              <a:t>Ethical Implications of Deploying the </a:t>
            </a:r>
            <a:r>
              <a:rPr lang="en" sz="3600">
                <a:latin typeface="IBM Plex Sans"/>
                <a:ea typeface="IBM Plex Sans"/>
                <a:cs typeface="IBM Plex Sans"/>
                <a:sym typeface="IBM Plex Sans"/>
              </a:rPr>
              <a:t>Policy Labeler</a:t>
            </a:r>
            <a:endParaRPr sz="10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79" name="Google Shape;1079;p74"/>
          <p:cNvSpPr txBox="1"/>
          <p:nvPr>
            <p:ph idx="4294967295" type="subTitle"/>
          </p:nvPr>
        </p:nvSpPr>
        <p:spPr>
          <a:xfrm>
            <a:off x="228600" y="1854925"/>
            <a:ext cx="8181600" cy="31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IBM Plex Sans"/>
              <a:buChar char="●"/>
            </a:pPr>
            <a:r>
              <a:rPr b="1" lang="en" sz="1300">
                <a:latin typeface="IBM Plex Sans"/>
                <a:ea typeface="IBM Plex Sans"/>
                <a:cs typeface="IBM Plex Sans"/>
                <a:sym typeface="IBM Plex Sans"/>
              </a:rPr>
              <a:t>Risk of False Positives</a:t>
            </a:r>
            <a:endParaRPr b="1" sz="13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latin typeface="IBM Plex Sans"/>
                <a:ea typeface="IBM Plex Sans"/>
                <a:cs typeface="IBM Plex Sans"/>
                <a:sym typeface="IBM Plex Sans"/>
              </a:rPr>
              <a:t>Users who use slang, jokes, or non-standard writing may be unfairly flagged as scams, affecting trust and reputation.</a:t>
            </a:r>
            <a:endParaRPr sz="13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BM Plex Sans"/>
              <a:buChar char="●"/>
            </a:pPr>
            <a:r>
              <a:rPr b="1" lang="en" sz="1300">
                <a:latin typeface="IBM Plex Sans"/>
                <a:ea typeface="IBM Plex Sans"/>
                <a:cs typeface="IBM Plex Sans"/>
                <a:sym typeface="IBM Plex Sans"/>
              </a:rPr>
              <a:t>Risk of False Negatives</a:t>
            </a:r>
            <a:endParaRPr sz="13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IBM Plex Sans"/>
                <a:ea typeface="IBM Plex Sans"/>
                <a:cs typeface="IBM Plex Sans"/>
                <a:sym typeface="IBM Plex Sans"/>
              </a:rPr>
              <a:t>Well-packaged, metaphorical, or ad-like scam content may escape detection, giving users a false sense of safety.</a:t>
            </a:r>
            <a:endParaRPr sz="13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 sz="1300">
                <a:latin typeface="IBM Plex Sans"/>
                <a:ea typeface="IBM Plex Sans"/>
                <a:cs typeface="IBM Plex Sans"/>
                <a:sym typeface="IBM Plex Sans"/>
              </a:rPr>
              <a:t>Privacy and Over-Profiling Concerns</a:t>
            </a:r>
            <a:endParaRPr b="1" sz="13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IBM Plex Sans"/>
                <a:ea typeface="IBM Plex Sans"/>
                <a:cs typeface="IBM Plex Sans"/>
                <a:sym typeface="IBM Plex Sans"/>
              </a:rPr>
              <a:t>Even when using only basic account information, we must avoid over-profiling users or making inferences they did not consent to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75"/>
          <p:cNvSpPr txBox="1"/>
          <p:nvPr>
            <p:ph idx="8" type="title"/>
          </p:nvPr>
        </p:nvSpPr>
        <p:spPr>
          <a:xfrm>
            <a:off x="2134625" y="1914525"/>
            <a:ext cx="20493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Account-Age Checker</a:t>
            </a:r>
            <a:endParaRPr/>
          </a:p>
        </p:txBody>
      </p:sp>
      <p:sp>
        <p:nvSpPr>
          <p:cNvPr id="1085" name="Google Shape;1085;p75"/>
          <p:cNvSpPr txBox="1"/>
          <p:nvPr>
            <p:ph idx="1" type="body"/>
          </p:nvPr>
        </p:nvSpPr>
        <p:spPr>
          <a:xfrm>
            <a:off x="5654575" y="1840850"/>
            <a:ext cx="3366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 detection robustness by incorporating </a:t>
            </a:r>
            <a:r>
              <a:rPr b="1" lang="en">
                <a:latin typeface="Sora"/>
                <a:ea typeface="Sora"/>
                <a:cs typeface="Sora"/>
                <a:sym typeface="Sora"/>
              </a:rPr>
              <a:t>account-age and account-freshness features</a:t>
            </a:r>
            <a:r>
              <a:rPr lang="en"/>
              <a:t>, catching scams from new accounts that hide behind normal-looking follower/following ratios and post counts.</a:t>
            </a:r>
            <a:endParaRPr/>
          </a:p>
        </p:txBody>
      </p:sp>
      <p:sp>
        <p:nvSpPr>
          <p:cNvPr id="1086" name="Google Shape;1086;p75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 #1</a:t>
            </a:r>
            <a:endParaRPr/>
          </a:p>
        </p:txBody>
      </p:sp>
      <p:sp>
        <p:nvSpPr>
          <p:cNvPr id="1087" name="Google Shape;1087;p75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75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75"/>
          <p:cNvSpPr txBox="1"/>
          <p:nvPr>
            <p:ph idx="13" type="title"/>
          </p:nvPr>
        </p:nvSpPr>
        <p:spPr>
          <a:xfrm>
            <a:off x="115025" y="5027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pic>
        <p:nvPicPr>
          <p:cNvPr id="1090" name="Google Shape;109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8287" y="3302563"/>
            <a:ext cx="362902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4175" y="2467450"/>
            <a:ext cx="2597332" cy="256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76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Image-Based Scam Detection</a:t>
            </a:r>
            <a:endParaRPr/>
          </a:p>
        </p:txBody>
      </p:sp>
      <p:sp>
        <p:nvSpPr>
          <p:cNvPr id="1097" name="Google Shape;1097;p76"/>
          <p:cNvSpPr txBox="1"/>
          <p:nvPr>
            <p:ph idx="2" type="body"/>
          </p:nvPr>
        </p:nvSpPr>
        <p:spPr>
          <a:xfrm>
            <a:off x="5654575" y="2822538"/>
            <a:ext cx="31548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 beyond text-only analysis by introducing </a:t>
            </a:r>
            <a:r>
              <a:rPr b="1" lang="en">
                <a:latin typeface="Sora"/>
                <a:ea typeface="Sora"/>
                <a:cs typeface="Sora"/>
                <a:sym typeface="Sora"/>
              </a:rPr>
              <a:t>image analysis</a:t>
            </a:r>
            <a:r>
              <a:rPr lang="en"/>
              <a:t> to detect fake profit screenshots, malicious QR codes, embedded text, and AI-generated/</a:t>
            </a:r>
            <a:r>
              <a:rPr lang="en"/>
              <a:t>deep fake</a:t>
            </a:r>
            <a:r>
              <a:rPr lang="en"/>
              <a:t> content that bypasses our current text-based model.</a:t>
            </a:r>
            <a:endParaRPr/>
          </a:p>
        </p:txBody>
      </p:sp>
      <p:sp>
        <p:nvSpPr>
          <p:cNvPr id="1098" name="Google Shape;1098;p76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 #2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76"/>
          <p:cNvSpPr txBox="1"/>
          <p:nvPr>
            <p:ph idx="13" type="title"/>
          </p:nvPr>
        </p:nvSpPr>
        <p:spPr>
          <a:xfrm>
            <a:off x="115025" y="5027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pic>
        <p:nvPicPr>
          <p:cNvPr id="1100" name="Google Shape;110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4438" y="632153"/>
            <a:ext cx="2861225" cy="193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1" name="Google Shape;1101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9151" y="3126695"/>
            <a:ext cx="1471775" cy="1820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77"/>
          <p:cNvSpPr txBox="1"/>
          <p:nvPr>
            <p:ph idx="4" type="title"/>
          </p:nvPr>
        </p:nvSpPr>
        <p:spPr>
          <a:xfrm>
            <a:off x="2134625" y="3793475"/>
            <a:ext cx="19392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a Dynamic, Evolving Scam-Phrase Model</a:t>
            </a:r>
            <a:endParaRPr/>
          </a:p>
        </p:txBody>
      </p:sp>
      <p:sp>
        <p:nvSpPr>
          <p:cNvPr id="1107" name="Google Shape;1107;p77"/>
          <p:cNvSpPr txBox="1"/>
          <p:nvPr>
            <p:ph idx="5" type="body"/>
          </p:nvPr>
        </p:nvSpPr>
        <p:spPr>
          <a:xfrm>
            <a:off x="5654575" y="3722675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Develop an LLM-style </a:t>
            </a:r>
            <a:r>
              <a:rPr b="1" lang="en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adaptive phrase database</a:t>
            </a:r>
            <a:r>
              <a:rPr lang="en">
                <a:solidFill>
                  <a:srgbClr val="000000"/>
                </a:solidFill>
              </a:rPr>
              <a:t> that continuously learns new scam patterns, detects linguistic variations (“secure the bag” vs. “make money fast”), and captures </a:t>
            </a:r>
            <a:r>
              <a:rPr b="1" lang="en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multilingual and culturally-specific fraud tactics</a:t>
            </a:r>
            <a:r>
              <a:rPr lang="en">
                <a:solidFill>
                  <a:srgbClr val="000000"/>
                </a:solidFill>
              </a:rPr>
              <a:t>.</a:t>
            </a:r>
            <a:endParaRPr/>
          </a:p>
        </p:txBody>
      </p:sp>
      <p:sp>
        <p:nvSpPr>
          <p:cNvPr id="1108" name="Google Shape;1108;p77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 #3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77"/>
          <p:cNvSpPr txBox="1"/>
          <p:nvPr>
            <p:ph idx="13" type="title"/>
          </p:nvPr>
        </p:nvSpPr>
        <p:spPr>
          <a:xfrm>
            <a:off x="115025" y="5027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pic>
        <p:nvPicPr>
          <p:cNvPr id="1110" name="Google Shape;111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1525" y="854100"/>
            <a:ext cx="2436526" cy="2436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78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